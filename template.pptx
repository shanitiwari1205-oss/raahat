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Agrandir" panose="020B0604020202020204" charset="0"/>
      <p:regular r:id="rId11"/>
    </p:embeddedFont>
    <p:embeddedFont>
      <p:font typeface="Agrandir Bold" panose="020B0604020202020204" charset="0"/>
      <p:regular r:id="rId12"/>
    </p:embeddedFont>
    <p:embeddedFont>
      <p:font typeface="Agrandir Medium" panose="020B0604020202020204" charset="0"/>
      <p:regular r:id="rId13"/>
    </p:embeddedFont>
    <p:embeddedFont>
      <p:font typeface="Anton" pitchFamily="2" charset="0"/>
      <p:regular r:id="rId14"/>
    </p:embeddedFont>
    <p:embeddedFont>
      <p:font typeface="Bebas Neue" panose="020B0606020202050201" pitchFamily="34" charset="0"/>
      <p:regular r:id="rId15"/>
    </p:embeddedFont>
    <p:embeddedFont>
      <p:font typeface="Horizon" panose="020B0604020202020204" charset="0"/>
      <p:regular r:id="rId16"/>
    </p:embeddedFont>
    <p:embeddedFont>
      <p:font typeface="Now Medium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900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25915" y="-1272977"/>
            <a:ext cx="19113915" cy="11559977"/>
          </a:xfrm>
          <a:custGeom>
            <a:avLst/>
            <a:gdLst/>
            <a:ahLst/>
            <a:cxnLst/>
            <a:rect l="l" t="t" r="r" b="b"/>
            <a:pathLst>
              <a:path w="19113915" h="11559977">
                <a:moveTo>
                  <a:pt x="0" y="0"/>
                </a:moveTo>
                <a:lnTo>
                  <a:pt x="19113915" y="0"/>
                </a:lnTo>
                <a:lnTo>
                  <a:pt x="19113915" y="11559977"/>
                </a:lnTo>
                <a:lnTo>
                  <a:pt x="0" y="11559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30" r="-373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94361" y="247504"/>
            <a:ext cx="2343715" cy="1046334"/>
            <a:chOff x="0" y="0"/>
            <a:chExt cx="3124953" cy="139511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10396" cy="1395113"/>
            </a:xfrm>
            <a:custGeom>
              <a:avLst/>
              <a:gdLst/>
              <a:ahLst/>
              <a:cxnLst/>
              <a:rect l="l" t="t" r="r" b="b"/>
              <a:pathLst>
                <a:path w="1110396" h="1395113">
                  <a:moveTo>
                    <a:pt x="0" y="0"/>
                  </a:moveTo>
                  <a:lnTo>
                    <a:pt x="1110396" y="0"/>
                  </a:lnTo>
                  <a:lnTo>
                    <a:pt x="1110396" y="1395113"/>
                  </a:lnTo>
                  <a:lnTo>
                    <a:pt x="0" y="1395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1120873" y="92133"/>
              <a:ext cx="2004079" cy="8694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62"/>
                </a:lnSpc>
              </a:pPr>
              <a:r>
                <a:rPr lang="en-US" sz="1539" b="1">
                  <a:solidFill>
                    <a:srgbClr val="FFFFFF"/>
                  </a:solidFill>
                  <a:latin typeface="Now Medium"/>
                  <a:ea typeface="Now Medium"/>
                  <a:cs typeface="Now Medium"/>
                  <a:sym typeface="Now Medium"/>
                </a:rPr>
                <a:t>INSTITUTION'S INNOVATION COUNCIL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20873" y="1011585"/>
              <a:ext cx="924960" cy="2542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07"/>
                </a:lnSpc>
              </a:pPr>
              <a:r>
                <a:rPr lang="en-US" sz="1303" b="1">
                  <a:solidFill>
                    <a:srgbClr val="FF914D"/>
                  </a:solidFill>
                  <a:latin typeface="Now Medium"/>
                  <a:ea typeface="Now Medium"/>
                  <a:cs typeface="Now Medium"/>
                  <a:sym typeface="Now Medium"/>
                </a:rPr>
                <a:t>DJSCE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103757" y="9307013"/>
            <a:ext cx="524923" cy="880803"/>
          </a:xfrm>
          <a:custGeom>
            <a:avLst/>
            <a:gdLst/>
            <a:ahLst/>
            <a:cxnLst/>
            <a:rect l="l" t="t" r="r" b="b"/>
            <a:pathLst>
              <a:path w="524923" h="880803">
                <a:moveTo>
                  <a:pt x="0" y="0"/>
                </a:moveTo>
                <a:lnTo>
                  <a:pt x="524923" y="0"/>
                </a:lnTo>
                <a:lnTo>
                  <a:pt x="524923" y="880803"/>
                </a:lnTo>
                <a:lnTo>
                  <a:pt x="0" y="8808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778704" y="5596150"/>
            <a:ext cx="7850808" cy="1419500"/>
            <a:chOff x="0" y="0"/>
            <a:chExt cx="13226375" cy="239145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226360" cy="2391442"/>
            </a:xfrm>
            <a:custGeom>
              <a:avLst/>
              <a:gdLst/>
              <a:ahLst/>
              <a:cxnLst/>
              <a:rect l="l" t="t" r="r" b="b"/>
              <a:pathLst>
                <a:path w="13226360" h="2391442">
                  <a:moveTo>
                    <a:pt x="0" y="347799"/>
                  </a:moveTo>
                  <a:cubicBezTo>
                    <a:pt x="0" y="155749"/>
                    <a:pt x="231130" y="0"/>
                    <a:pt x="516132" y="0"/>
                  </a:cubicBezTo>
                  <a:lnTo>
                    <a:pt x="12710228" y="0"/>
                  </a:lnTo>
                  <a:cubicBezTo>
                    <a:pt x="12995390" y="0"/>
                    <a:pt x="13226360" y="155749"/>
                    <a:pt x="13226360" y="347799"/>
                  </a:cubicBezTo>
                  <a:lnTo>
                    <a:pt x="13226360" y="2043643"/>
                  </a:lnTo>
                  <a:cubicBezTo>
                    <a:pt x="13226360" y="2235802"/>
                    <a:pt x="12995229" y="2391442"/>
                    <a:pt x="12710228" y="2391442"/>
                  </a:cubicBezTo>
                  <a:lnTo>
                    <a:pt x="516132" y="2391442"/>
                  </a:lnTo>
                  <a:cubicBezTo>
                    <a:pt x="230969" y="2391442"/>
                    <a:pt x="0" y="2235693"/>
                    <a:pt x="0" y="2043643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38100" cap="sq">
              <a:solidFill>
                <a:srgbClr val="D9D9D9">
                  <a:alpha val="80000"/>
                </a:srgbClr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778704" y="7302306"/>
            <a:ext cx="7850808" cy="1419500"/>
            <a:chOff x="0" y="0"/>
            <a:chExt cx="13226375" cy="239145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226360" cy="2391442"/>
            </a:xfrm>
            <a:custGeom>
              <a:avLst/>
              <a:gdLst/>
              <a:ahLst/>
              <a:cxnLst/>
              <a:rect l="l" t="t" r="r" b="b"/>
              <a:pathLst>
                <a:path w="13226360" h="2391442">
                  <a:moveTo>
                    <a:pt x="0" y="347799"/>
                  </a:moveTo>
                  <a:cubicBezTo>
                    <a:pt x="0" y="155749"/>
                    <a:pt x="231130" y="0"/>
                    <a:pt x="516132" y="0"/>
                  </a:cubicBezTo>
                  <a:lnTo>
                    <a:pt x="12710228" y="0"/>
                  </a:lnTo>
                  <a:cubicBezTo>
                    <a:pt x="12995390" y="0"/>
                    <a:pt x="13226360" y="155749"/>
                    <a:pt x="13226360" y="347799"/>
                  </a:cubicBezTo>
                  <a:lnTo>
                    <a:pt x="13226360" y="2043643"/>
                  </a:lnTo>
                  <a:cubicBezTo>
                    <a:pt x="13226360" y="2235802"/>
                    <a:pt x="12995229" y="2391442"/>
                    <a:pt x="12710228" y="2391442"/>
                  </a:cubicBezTo>
                  <a:lnTo>
                    <a:pt x="516132" y="2391442"/>
                  </a:lnTo>
                  <a:cubicBezTo>
                    <a:pt x="230969" y="2391442"/>
                    <a:pt x="0" y="2235693"/>
                    <a:pt x="0" y="2043643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38100" cap="sq">
              <a:solidFill>
                <a:srgbClr val="D9D9D9">
                  <a:alpha val="80000"/>
                </a:srgbClr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0049754" y="5610575"/>
            <a:ext cx="6459542" cy="3111230"/>
            <a:chOff x="0" y="0"/>
            <a:chExt cx="10882489" cy="524153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882476" cy="5241513"/>
            </a:xfrm>
            <a:custGeom>
              <a:avLst/>
              <a:gdLst/>
              <a:ahLst/>
              <a:cxnLst/>
              <a:rect l="l" t="t" r="r" b="b"/>
              <a:pathLst>
                <a:path w="10882476" h="5241513">
                  <a:moveTo>
                    <a:pt x="0" y="762298"/>
                  </a:moveTo>
                  <a:cubicBezTo>
                    <a:pt x="0" y="341367"/>
                    <a:pt x="190171" y="0"/>
                    <a:pt x="424666" y="0"/>
                  </a:cubicBezTo>
                  <a:lnTo>
                    <a:pt x="10457810" y="0"/>
                  </a:lnTo>
                  <a:cubicBezTo>
                    <a:pt x="10692437" y="0"/>
                    <a:pt x="10882476" y="341367"/>
                    <a:pt x="10882476" y="762298"/>
                  </a:cubicBezTo>
                  <a:lnTo>
                    <a:pt x="10882476" y="4479215"/>
                  </a:lnTo>
                  <a:cubicBezTo>
                    <a:pt x="10882476" y="4900385"/>
                    <a:pt x="10692305" y="5241513"/>
                    <a:pt x="10457810" y="5241513"/>
                  </a:cubicBezTo>
                  <a:lnTo>
                    <a:pt x="424666" y="5241513"/>
                  </a:lnTo>
                  <a:cubicBezTo>
                    <a:pt x="190038" y="5241513"/>
                    <a:pt x="0" y="4900147"/>
                    <a:pt x="0" y="4479215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38100" cap="sq">
              <a:solidFill>
                <a:srgbClr val="D9D9D9">
                  <a:alpha val="80000"/>
                </a:srgbClr>
              </a:solidFill>
              <a:prstDash val="solid"/>
              <a:miter/>
            </a:ln>
          </p:spPr>
        </p:sp>
      </p:grpSp>
      <p:sp>
        <p:nvSpPr>
          <p:cNvPr id="14" name="Freeform 14"/>
          <p:cNvSpPr/>
          <p:nvPr/>
        </p:nvSpPr>
        <p:spPr>
          <a:xfrm>
            <a:off x="113722" y="9330363"/>
            <a:ext cx="923360" cy="834102"/>
          </a:xfrm>
          <a:custGeom>
            <a:avLst/>
            <a:gdLst/>
            <a:ahLst/>
            <a:cxnLst/>
            <a:rect l="l" t="t" r="r" b="b"/>
            <a:pathLst>
              <a:path w="923360" h="834102">
                <a:moveTo>
                  <a:pt x="0" y="0"/>
                </a:moveTo>
                <a:lnTo>
                  <a:pt x="923360" y="0"/>
                </a:lnTo>
                <a:lnTo>
                  <a:pt x="923360" y="834102"/>
                </a:lnTo>
                <a:lnTo>
                  <a:pt x="0" y="8341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695355" y="9418040"/>
            <a:ext cx="4859916" cy="649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3"/>
              </a:lnSpc>
            </a:pPr>
            <a:r>
              <a:rPr lang="en-US" sz="2100" spc="29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DWARKADAS J SANGHVI COLLEGE OF ENGINEERING, VILE PARLE(W)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55620" y="5953475"/>
            <a:ext cx="2909974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03470"/>
                </a:solidFill>
                <a:latin typeface="Agrandir Bold"/>
                <a:ea typeface="Agrandir Bold"/>
                <a:cs typeface="Agrandir Bold"/>
                <a:sym typeface="Agrandir Bold"/>
              </a:rPr>
              <a:t>Team Name: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55620" y="7940755"/>
            <a:ext cx="270916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03470"/>
                </a:solidFill>
                <a:latin typeface="Agrandir Bold"/>
                <a:ea typeface="Agrandir Bold"/>
                <a:cs typeface="Agrandir Bold"/>
                <a:sym typeface="Agrandir Bold"/>
              </a:rPr>
              <a:t>PS Name 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55620" y="7431031"/>
            <a:ext cx="2909974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03470"/>
                </a:solidFill>
                <a:latin typeface="Agrandir Bold"/>
                <a:ea typeface="Agrandir Bold"/>
                <a:cs typeface="Agrandir Bold"/>
                <a:sym typeface="Agrandir Bold"/>
              </a:rPr>
              <a:t>PS ID 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07916" y="5724875"/>
            <a:ext cx="2307532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03470"/>
                </a:solidFill>
                <a:latin typeface="Agrandir Bold"/>
                <a:ea typeface="Agrandir Bold"/>
                <a:cs typeface="Agrandir Bold"/>
                <a:sym typeface="Agrandir Bold"/>
              </a:rPr>
              <a:t>Abstract :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5460194" y="0"/>
            <a:ext cx="2720741" cy="1317816"/>
            <a:chOff x="0" y="0"/>
            <a:chExt cx="3627654" cy="175708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758552" cy="1757088"/>
            </a:xfrm>
            <a:custGeom>
              <a:avLst/>
              <a:gdLst/>
              <a:ahLst/>
              <a:cxnLst/>
              <a:rect l="l" t="t" r="r" b="b"/>
              <a:pathLst>
                <a:path w="1758552" h="1757088">
                  <a:moveTo>
                    <a:pt x="0" y="0"/>
                  </a:moveTo>
                  <a:lnTo>
                    <a:pt x="1758552" y="0"/>
                  </a:lnTo>
                  <a:lnTo>
                    <a:pt x="1758552" y="1757088"/>
                  </a:lnTo>
                  <a:lnTo>
                    <a:pt x="0" y="1757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2252616" y="192744"/>
              <a:ext cx="1375038" cy="1371600"/>
            </a:xfrm>
            <a:custGeom>
              <a:avLst/>
              <a:gdLst/>
              <a:ahLst/>
              <a:cxnLst/>
              <a:rect l="l" t="t" r="r" b="b"/>
              <a:pathLst>
                <a:path w="1375038" h="1371600">
                  <a:moveTo>
                    <a:pt x="0" y="0"/>
                  </a:moveTo>
                  <a:lnTo>
                    <a:pt x="1375038" y="0"/>
                  </a:lnTo>
                  <a:lnTo>
                    <a:pt x="1375038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1758552" y="681902"/>
              <a:ext cx="254692" cy="345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0"/>
                </a:lnSpc>
              </a:pPr>
              <a:r>
                <a:rPr lang="en-US" sz="1478">
                  <a:solidFill>
                    <a:srgbClr val="FFCD82"/>
                  </a:solidFill>
                  <a:latin typeface="Horizon"/>
                  <a:ea typeface="Horizon"/>
                  <a:cs typeface="Horizon"/>
                  <a:sym typeface="Horizon"/>
                </a:rPr>
                <a:t>x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r="-6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02442" y="1883567"/>
            <a:ext cx="16972599" cy="419100"/>
            <a:chOff x="0" y="0"/>
            <a:chExt cx="22630132" cy="558800"/>
          </a:xfrm>
        </p:grpSpPr>
        <p:sp>
          <p:nvSpPr>
            <p:cNvPr id="4" name="AutoShape 4"/>
            <p:cNvSpPr/>
            <p:nvPr/>
          </p:nvSpPr>
          <p:spPr>
            <a:xfrm>
              <a:off x="825885" y="279400"/>
              <a:ext cx="10230406" cy="0"/>
            </a:xfrm>
            <a:prstGeom prst="line">
              <a:avLst/>
            </a:prstGeom>
            <a:ln w="63500" cap="flat">
              <a:solidFill>
                <a:srgbClr val="FFCD82"/>
              </a:solidFill>
              <a:prstDash val="lgDash"/>
              <a:headEnd type="none" w="sm" len="sm"/>
              <a:tailEnd type="none" w="sm" len="sm"/>
            </a:ln>
          </p:spPr>
        </p:sp>
        <p:sp>
          <p:nvSpPr>
            <p:cNvPr id="5" name="AutoShape 5"/>
            <p:cNvSpPr/>
            <p:nvPr/>
          </p:nvSpPr>
          <p:spPr>
            <a:xfrm>
              <a:off x="11720891" y="279400"/>
              <a:ext cx="10092220" cy="0"/>
            </a:xfrm>
            <a:prstGeom prst="line">
              <a:avLst/>
            </a:prstGeom>
            <a:ln w="63500" cap="flat">
              <a:solidFill>
                <a:srgbClr val="FFCD82"/>
              </a:solidFill>
              <a:prstDash val="lgDash"/>
              <a:headEnd type="none" w="sm" len="sm"/>
              <a:tailEnd type="none" w="sm" len="sm"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669573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FCD82"/>
                  </a:solidFill>
                  <a:latin typeface="Anton"/>
                  <a:ea typeface="Anton"/>
                  <a:cs typeface="Anton"/>
                  <a:sym typeface="Anton"/>
                </a:rPr>
                <a:t>DEP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1930346" y="0"/>
              <a:ext cx="699786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FCD82"/>
                  </a:solidFill>
                  <a:latin typeface="Anton"/>
                  <a:ea typeface="Anton"/>
                  <a:cs typeface="Anton"/>
                  <a:sym typeface="Anton"/>
                </a:rPr>
                <a:t>ARR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0991779" y="69453"/>
              <a:ext cx="646574" cy="419894"/>
              <a:chOff x="0" y="0"/>
              <a:chExt cx="406400" cy="263922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406400" cy="263922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263922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131961"/>
                    </a:lnTo>
                    <a:lnTo>
                      <a:pt x="203200" y="263922"/>
                    </a:lnTo>
                    <a:lnTo>
                      <a:pt x="0" y="263922"/>
                    </a:lnTo>
                    <a:lnTo>
                      <a:pt x="203200" y="1319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D82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77800" y="19050"/>
                <a:ext cx="152400" cy="2448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68"/>
                  </a:lnSpc>
                </a:pPr>
                <a:endParaRPr/>
              </a:p>
            </p:txBody>
          </p:sp>
        </p:grpSp>
      </p:grpSp>
      <p:sp>
        <p:nvSpPr>
          <p:cNvPr id="11" name="TextBox 11"/>
          <p:cNvSpPr txBox="1"/>
          <p:nvPr/>
        </p:nvSpPr>
        <p:spPr>
          <a:xfrm>
            <a:off x="602442" y="682985"/>
            <a:ext cx="7871626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39"/>
              </a:lnSpc>
            </a:pPr>
            <a:r>
              <a:rPr lang="en-US" sz="7699">
                <a:solidFill>
                  <a:srgbClr val="003470"/>
                </a:solidFill>
                <a:latin typeface="Anton"/>
                <a:ea typeface="Anton"/>
                <a:cs typeface="Anton"/>
                <a:sym typeface="Anton"/>
              </a:rPr>
              <a:t>PROPOSED SOLUTION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813" y="2436448"/>
            <a:ext cx="10921127" cy="223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2" lvl="1" indent="-377826" algn="l">
              <a:lnSpc>
                <a:spcPts val="4200"/>
              </a:lnSpc>
              <a:buFont typeface="Arial"/>
              <a:buChar char="•"/>
            </a:pPr>
            <a:r>
              <a:rPr lang="en-US" sz="3500" b="1">
                <a:solidFill>
                  <a:srgbClr val="003470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Proposed Solution and Core Concept</a:t>
            </a:r>
          </a:p>
          <a:p>
            <a:pPr marL="755652" lvl="1" indent="-377826" algn="l">
              <a:lnSpc>
                <a:spcPts val="4200"/>
              </a:lnSpc>
              <a:buFont typeface="Arial"/>
              <a:buChar char="•"/>
            </a:pPr>
            <a:r>
              <a:rPr lang="en-US" sz="3500" b="1">
                <a:solidFill>
                  <a:srgbClr val="003470"/>
                </a:solidFill>
                <a:latin typeface="Agrandir Bold"/>
                <a:ea typeface="Agrandir Bold"/>
                <a:cs typeface="Agrandir Bold"/>
                <a:sym typeface="Agrandir Bold"/>
              </a:rPr>
              <a:t>Key Functionalities and Detailed Approach</a:t>
            </a:r>
          </a:p>
          <a:p>
            <a:pPr marL="755652" lvl="1" indent="-377826" algn="l">
              <a:lnSpc>
                <a:spcPts val="4200"/>
              </a:lnSpc>
              <a:buFont typeface="Arial"/>
              <a:buChar char="•"/>
            </a:pPr>
            <a:r>
              <a:rPr lang="en-US" sz="3500" b="1">
                <a:solidFill>
                  <a:srgbClr val="003470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Problem - Solution Alignment</a:t>
            </a:r>
          </a:p>
          <a:p>
            <a:pPr algn="l">
              <a:lnSpc>
                <a:spcPts val="4200"/>
              </a:lnSpc>
            </a:pPr>
            <a:endParaRPr lang="en-US" sz="3500" b="1">
              <a:solidFill>
                <a:srgbClr val="003470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r="-6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02442" y="682985"/>
            <a:ext cx="7871626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7700">
                <a:solidFill>
                  <a:srgbClr val="003470"/>
                </a:solidFill>
                <a:latin typeface="Anton"/>
                <a:ea typeface="Anton"/>
                <a:cs typeface="Anton"/>
                <a:sym typeface="Anton"/>
              </a:rPr>
              <a:t>TECHNICAL APPROACH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95813" y="2436448"/>
            <a:ext cx="10921127" cy="223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2" lvl="1" indent="-377826" algn="l">
              <a:lnSpc>
                <a:spcPts val="4200"/>
              </a:lnSpc>
              <a:buFont typeface="Arial"/>
              <a:buChar char="•"/>
            </a:pPr>
            <a:r>
              <a:rPr lang="en-US" sz="3500" b="1">
                <a:solidFill>
                  <a:srgbClr val="003470"/>
                </a:solidFill>
                <a:latin typeface="Agrandir Bold"/>
                <a:ea typeface="Agrandir Bold"/>
                <a:cs typeface="Agrandir Bold"/>
                <a:sym typeface="Agrandir Bold"/>
              </a:rPr>
              <a:t>System Architecture and Overall Workflow</a:t>
            </a:r>
          </a:p>
          <a:p>
            <a:pPr marL="755652" lvl="1" indent="-377826" algn="l">
              <a:lnSpc>
                <a:spcPts val="4200"/>
              </a:lnSpc>
              <a:buFont typeface="Arial"/>
              <a:buChar char="•"/>
            </a:pPr>
            <a:r>
              <a:rPr lang="en-US" sz="3500" b="1">
                <a:solidFill>
                  <a:srgbClr val="003470"/>
                </a:solidFill>
                <a:latin typeface="Agrandir Bold"/>
                <a:ea typeface="Agrandir Bold"/>
                <a:cs typeface="Agrandir Bold"/>
                <a:sym typeface="Agrandir Bold"/>
              </a:rPr>
              <a:t>Technologies, Frameworks and Models</a:t>
            </a:r>
          </a:p>
          <a:p>
            <a:pPr marL="755652" lvl="1" indent="-377826" algn="l">
              <a:lnSpc>
                <a:spcPts val="4200"/>
              </a:lnSpc>
              <a:buFont typeface="Arial"/>
              <a:buChar char="•"/>
            </a:pPr>
            <a:r>
              <a:rPr lang="en-US" sz="3500" b="1">
                <a:solidFill>
                  <a:srgbClr val="003470"/>
                </a:solidFill>
                <a:latin typeface="Agrandir Bold"/>
                <a:ea typeface="Agrandir Bold"/>
                <a:cs typeface="Agrandir Bold"/>
                <a:sym typeface="Agrandir Bold"/>
              </a:rPr>
              <a:t>Implementation and System Components</a:t>
            </a:r>
          </a:p>
          <a:p>
            <a:pPr algn="l">
              <a:lnSpc>
                <a:spcPts val="4200"/>
              </a:lnSpc>
            </a:pPr>
            <a:endParaRPr lang="en-US" sz="3500" b="1">
              <a:solidFill>
                <a:srgbClr val="003470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602442" y="1883567"/>
            <a:ext cx="16972599" cy="419100"/>
            <a:chOff x="0" y="0"/>
            <a:chExt cx="22630132" cy="558800"/>
          </a:xfrm>
        </p:grpSpPr>
        <p:sp>
          <p:nvSpPr>
            <p:cNvPr id="6" name="AutoShape 6"/>
            <p:cNvSpPr/>
            <p:nvPr/>
          </p:nvSpPr>
          <p:spPr>
            <a:xfrm>
              <a:off x="825885" y="279400"/>
              <a:ext cx="10230406" cy="0"/>
            </a:xfrm>
            <a:prstGeom prst="line">
              <a:avLst/>
            </a:prstGeom>
            <a:ln w="63500" cap="flat">
              <a:solidFill>
                <a:srgbClr val="FFCD82"/>
              </a:solidFill>
              <a:prstDash val="lgDash"/>
              <a:headEnd type="none" w="sm" len="sm"/>
              <a:tailEnd type="none" w="sm" len="sm"/>
            </a:ln>
          </p:spPr>
        </p:sp>
        <p:sp>
          <p:nvSpPr>
            <p:cNvPr id="7" name="AutoShape 7"/>
            <p:cNvSpPr/>
            <p:nvPr/>
          </p:nvSpPr>
          <p:spPr>
            <a:xfrm>
              <a:off x="11720891" y="279400"/>
              <a:ext cx="10092220" cy="0"/>
            </a:xfrm>
            <a:prstGeom prst="line">
              <a:avLst/>
            </a:prstGeom>
            <a:ln w="63500" cap="flat">
              <a:solidFill>
                <a:srgbClr val="FFCD82"/>
              </a:solidFill>
              <a:prstDash val="lgDash"/>
              <a:headEnd type="none" w="sm" len="sm"/>
              <a:tailEnd type="none" w="sm" len="sm"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669573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FCD82"/>
                  </a:solidFill>
                  <a:latin typeface="Anton"/>
                  <a:ea typeface="Anton"/>
                  <a:cs typeface="Anton"/>
                  <a:sym typeface="Anton"/>
                </a:rPr>
                <a:t>DEP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930346" y="0"/>
              <a:ext cx="699786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FCD82"/>
                  </a:solidFill>
                  <a:latin typeface="Anton"/>
                  <a:ea typeface="Anton"/>
                  <a:cs typeface="Anton"/>
                  <a:sym typeface="Anton"/>
                </a:rPr>
                <a:t>ARR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991779" y="69453"/>
              <a:ext cx="646574" cy="419894"/>
              <a:chOff x="0" y="0"/>
              <a:chExt cx="406400" cy="26392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263922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263922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131961"/>
                    </a:lnTo>
                    <a:lnTo>
                      <a:pt x="203200" y="263922"/>
                    </a:lnTo>
                    <a:lnTo>
                      <a:pt x="0" y="263922"/>
                    </a:lnTo>
                    <a:lnTo>
                      <a:pt x="203200" y="1319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D82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77800" y="19050"/>
                <a:ext cx="152400" cy="2448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68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r="-6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02442" y="682985"/>
            <a:ext cx="12271289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7700">
                <a:solidFill>
                  <a:srgbClr val="003470"/>
                </a:solidFill>
                <a:latin typeface="Anton"/>
                <a:ea typeface="Anton"/>
                <a:cs typeface="Anton"/>
                <a:sym typeface="Anton"/>
              </a:rPr>
              <a:t>INNOVATION AND UNIQUENESS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95813" y="2436448"/>
            <a:ext cx="12150269" cy="223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2" lvl="1" indent="-377826" algn="l">
              <a:lnSpc>
                <a:spcPts val="4200"/>
              </a:lnSpc>
              <a:buFont typeface="Arial"/>
              <a:buChar char="•"/>
            </a:pPr>
            <a:r>
              <a:rPr lang="en-US" sz="3500" b="1">
                <a:solidFill>
                  <a:srgbClr val="003470"/>
                </a:solidFill>
                <a:latin typeface="Agrandir Bold"/>
                <a:ea typeface="Agrandir Bold"/>
                <a:cs typeface="Agrandir Bold"/>
                <a:sym typeface="Agrandir Bold"/>
              </a:rPr>
              <a:t>Innovative Approach and Core Differentiators</a:t>
            </a:r>
          </a:p>
          <a:p>
            <a:pPr marL="755652" lvl="1" indent="-377826" algn="l">
              <a:lnSpc>
                <a:spcPts val="4200"/>
              </a:lnSpc>
              <a:buFont typeface="Arial"/>
              <a:buChar char="•"/>
            </a:pPr>
            <a:r>
              <a:rPr lang="en-US" sz="3500" b="1">
                <a:solidFill>
                  <a:srgbClr val="003470"/>
                </a:solidFill>
                <a:latin typeface="Agrandir Bold"/>
                <a:ea typeface="Agrandir Bold"/>
                <a:cs typeface="Agrandir Bold"/>
                <a:sym typeface="Agrandir Bold"/>
              </a:rPr>
              <a:t>Unique Features and Functionalities</a:t>
            </a:r>
          </a:p>
          <a:p>
            <a:pPr marL="755652" lvl="1" indent="-377826" algn="l">
              <a:lnSpc>
                <a:spcPts val="4200"/>
              </a:lnSpc>
              <a:buFont typeface="Arial"/>
              <a:buChar char="•"/>
            </a:pPr>
            <a:r>
              <a:rPr lang="en-US" sz="3500" b="1">
                <a:solidFill>
                  <a:srgbClr val="003470"/>
                </a:solidFill>
                <a:latin typeface="Agrandir Bold"/>
                <a:ea typeface="Agrandir Bold"/>
                <a:cs typeface="Agrandir Bold"/>
                <a:sym typeface="Agrandir Bold"/>
              </a:rPr>
              <a:t>Comparison with Existing Approaches</a:t>
            </a:r>
          </a:p>
          <a:p>
            <a:pPr algn="l">
              <a:lnSpc>
                <a:spcPts val="4200"/>
              </a:lnSpc>
            </a:pPr>
            <a:endParaRPr lang="en-US" sz="3500" b="1">
              <a:solidFill>
                <a:srgbClr val="003470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602442" y="1883567"/>
            <a:ext cx="16972599" cy="419100"/>
            <a:chOff x="0" y="0"/>
            <a:chExt cx="22630132" cy="558800"/>
          </a:xfrm>
        </p:grpSpPr>
        <p:sp>
          <p:nvSpPr>
            <p:cNvPr id="6" name="AutoShape 6"/>
            <p:cNvSpPr/>
            <p:nvPr/>
          </p:nvSpPr>
          <p:spPr>
            <a:xfrm>
              <a:off x="825885" y="279400"/>
              <a:ext cx="10230406" cy="0"/>
            </a:xfrm>
            <a:prstGeom prst="line">
              <a:avLst/>
            </a:prstGeom>
            <a:ln w="63500" cap="flat">
              <a:solidFill>
                <a:srgbClr val="FFCD82"/>
              </a:solidFill>
              <a:prstDash val="lgDash"/>
              <a:headEnd type="none" w="sm" len="sm"/>
              <a:tailEnd type="none" w="sm" len="sm"/>
            </a:ln>
          </p:spPr>
        </p:sp>
        <p:sp>
          <p:nvSpPr>
            <p:cNvPr id="7" name="AutoShape 7"/>
            <p:cNvSpPr/>
            <p:nvPr/>
          </p:nvSpPr>
          <p:spPr>
            <a:xfrm>
              <a:off x="11720891" y="279400"/>
              <a:ext cx="10092220" cy="0"/>
            </a:xfrm>
            <a:prstGeom prst="line">
              <a:avLst/>
            </a:prstGeom>
            <a:ln w="63500" cap="flat">
              <a:solidFill>
                <a:srgbClr val="FFCD82"/>
              </a:solidFill>
              <a:prstDash val="lgDash"/>
              <a:headEnd type="none" w="sm" len="sm"/>
              <a:tailEnd type="none" w="sm" len="sm"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669573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FCD82"/>
                  </a:solidFill>
                  <a:latin typeface="Anton"/>
                  <a:ea typeface="Anton"/>
                  <a:cs typeface="Anton"/>
                  <a:sym typeface="Anton"/>
                </a:rPr>
                <a:t>DEP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930346" y="0"/>
              <a:ext cx="699786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FCD82"/>
                  </a:solidFill>
                  <a:latin typeface="Anton"/>
                  <a:ea typeface="Anton"/>
                  <a:cs typeface="Anton"/>
                  <a:sym typeface="Anton"/>
                </a:rPr>
                <a:t>ARR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991779" y="69453"/>
              <a:ext cx="646574" cy="419894"/>
              <a:chOff x="0" y="0"/>
              <a:chExt cx="406400" cy="26392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263922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263922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131961"/>
                    </a:lnTo>
                    <a:lnTo>
                      <a:pt x="203200" y="263922"/>
                    </a:lnTo>
                    <a:lnTo>
                      <a:pt x="0" y="263922"/>
                    </a:lnTo>
                    <a:lnTo>
                      <a:pt x="203200" y="1319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D82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77800" y="19050"/>
                <a:ext cx="152400" cy="2448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68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r="-6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02442" y="682985"/>
            <a:ext cx="12271289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7700">
                <a:solidFill>
                  <a:srgbClr val="003470"/>
                </a:solidFill>
                <a:latin typeface="Anton"/>
                <a:ea typeface="Anton"/>
                <a:cs typeface="Anton"/>
                <a:sym typeface="Anton"/>
              </a:rPr>
              <a:t>FEASIBILITY AND VIABILITY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95813" y="2436448"/>
            <a:ext cx="12577918" cy="223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2" lvl="1" indent="-377826" algn="l">
              <a:lnSpc>
                <a:spcPts val="4200"/>
              </a:lnSpc>
              <a:buFont typeface="Arial"/>
              <a:buChar char="•"/>
            </a:pPr>
            <a:r>
              <a:rPr lang="en-US" sz="3500" b="1">
                <a:solidFill>
                  <a:srgbClr val="003470"/>
                </a:solidFill>
                <a:latin typeface="Agrandir Bold"/>
                <a:ea typeface="Agrandir Bold"/>
                <a:cs typeface="Agrandir Bold"/>
                <a:sym typeface="Agrandir Bold"/>
              </a:rPr>
              <a:t>Technical and Operational Feasibility</a:t>
            </a:r>
          </a:p>
          <a:p>
            <a:pPr marL="755652" lvl="1" indent="-377826" algn="l">
              <a:lnSpc>
                <a:spcPts val="4200"/>
              </a:lnSpc>
              <a:buFont typeface="Arial"/>
              <a:buChar char="•"/>
            </a:pPr>
            <a:r>
              <a:rPr lang="en-US" sz="3500" b="1">
                <a:solidFill>
                  <a:srgbClr val="003470"/>
                </a:solidFill>
                <a:latin typeface="Agrandir Bold"/>
                <a:ea typeface="Agrandir Bold"/>
                <a:cs typeface="Agrandir Bold"/>
                <a:sym typeface="Agrandir Bold"/>
              </a:rPr>
              <a:t>Scalability, Deployment and Resource Requirements</a:t>
            </a:r>
          </a:p>
          <a:p>
            <a:pPr marL="755652" lvl="1" indent="-377826" algn="l">
              <a:lnSpc>
                <a:spcPts val="4200"/>
              </a:lnSpc>
              <a:buFont typeface="Arial"/>
              <a:buChar char="•"/>
            </a:pPr>
            <a:r>
              <a:rPr lang="en-US" sz="3500" b="1">
                <a:solidFill>
                  <a:srgbClr val="003470"/>
                </a:solidFill>
                <a:latin typeface="Agrandir Bold"/>
                <a:ea typeface="Agrandir Bold"/>
                <a:cs typeface="Agrandir Bold"/>
                <a:sym typeface="Agrandir Bold"/>
              </a:rPr>
              <a:t>Challenges, Risks and Sustainability</a:t>
            </a:r>
          </a:p>
          <a:p>
            <a:pPr algn="l">
              <a:lnSpc>
                <a:spcPts val="4200"/>
              </a:lnSpc>
            </a:pPr>
            <a:endParaRPr lang="en-US" sz="3500" b="1">
              <a:solidFill>
                <a:srgbClr val="003470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602442" y="1883567"/>
            <a:ext cx="16972599" cy="419100"/>
            <a:chOff x="0" y="0"/>
            <a:chExt cx="22630132" cy="558800"/>
          </a:xfrm>
        </p:grpSpPr>
        <p:sp>
          <p:nvSpPr>
            <p:cNvPr id="6" name="AutoShape 6"/>
            <p:cNvSpPr/>
            <p:nvPr/>
          </p:nvSpPr>
          <p:spPr>
            <a:xfrm>
              <a:off x="825885" y="279400"/>
              <a:ext cx="10230406" cy="0"/>
            </a:xfrm>
            <a:prstGeom prst="line">
              <a:avLst/>
            </a:prstGeom>
            <a:ln w="63500" cap="flat">
              <a:solidFill>
                <a:srgbClr val="FFCD82"/>
              </a:solidFill>
              <a:prstDash val="lgDash"/>
              <a:headEnd type="none" w="sm" len="sm"/>
              <a:tailEnd type="none" w="sm" len="sm"/>
            </a:ln>
          </p:spPr>
        </p:sp>
        <p:sp>
          <p:nvSpPr>
            <p:cNvPr id="7" name="AutoShape 7"/>
            <p:cNvSpPr/>
            <p:nvPr/>
          </p:nvSpPr>
          <p:spPr>
            <a:xfrm>
              <a:off x="11720891" y="279400"/>
              <a:ext cx="10092220" cy="0"/>
            </a:xfrm>
            <a:prstGeom prst="line">
              <a:avLst/>
            </a:prstGeom>
            <a:ln w="63500" cap="flat">
              <a:solidFill>
                <a:srgbClr val="FFCD82"/>
              </a:solidFill>
              <a:prstDash val="lgDash"/>
              <a:headEnd type="none" w="sm" len="sm"/>
              <a:tailEnd type="none" w="sm" len="sm"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669573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FCD82"/>
                  </a:solidFill>
                  <a:latin typeface="Anton"/>
                  <a:ea typeface="Anton"/>
                  <a:cs typeface="Anton"/>
                  <a:sym typeface="Anton"/>
                </a:rPr>
                <a:t>DEP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930346" y="0"/>
              <a:ext cx="699786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FCD82"/>
                  </a:solidFill>
                  <a:latin typeface="Anton"/>
                  <a:ea typeface="Anton"/>
                  <a:cs typeface="Anton"/>
                  <a:sym typeface="Anton"/>
                </a:rPr>
                <a:t>ARR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991779" y="69453"/>
              <a:ext cx="646574" cy="419894"/>
              <a:chOff x="0" y="0"/>
              <a:chExt cx="406400" cy="26392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263922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263922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131961"/>
                    </a:lnTo>
                    <a:lnTo>
                      <a:pt x="203200" y="263922"/>
                    </a:lnTo>
                    <a:lnTo>
                      <a:pt x="0" y="263922"/>
                    </a:lnTo>
                    <a:lnTo>
                      <a:pt x="203200" y="1319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D82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77800" y="19050"/>
                <a:ext cx="152400" cy="2448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68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r="-6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02442" y="682985"/>
            <a:ext cx="12271289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7700">
                <a:solidFill>
                  <a:srgbClr val="003470"/>
                </a:solidFill>
                <a:latin typeface="Anton"/>
                <a:ea typeface="Anton"/>
                <a:cs typeface="Anton"/>
                <a:sym typeface="Anton"/>
              </a:rPr>
              <a:t>IMPACT AND SCALING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95813" y="2436448"/>
            <a:ext cx="16365855" cy="223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2" lvl="1" indent="-377826" algn="l">
              <a:lnSpc>
                <a:spcPts val="4200"/>
              </a:lnSpc>
              <a:buFont typeface="Arial"/>
              <a:buChar char="•"/>
            </a:pPr>
            <a:r>
              <a:rPr lang="en-US" sz="3500" b="1">
                <a:solidFill>
                  <a:srgbClr val="003470"/>
                </a:solidFill>
                <a:latin typeface="Agrandir Bold"/>
                <a:ea typeface="Agrandir Bold"/>
                <a:cs typeface="Agrandir Bold"/>
                <a:sym typeface="Agrandir Bold"/>
              </a:rPr>
              <a:t>Target Users and Areas of Application</a:t>
            </a:r>
          </a:p>
          <a:p>
            <a:pPr marL="755652" lvl="1" indent="-377826" algn="l">
              <a:lnSpc>
                <a:spcPts val="4200"/>
              </a:lnSpc>
              <a:buFont typeface="Arial"/>
              <a:buChar char="•"/>
            </a:pPr>
            <a:r>
              <a:rPr lang="en-US" sz="3500" b="1">
                <a:solidFill>
                  <a:srgbClr val="003470"/>
                </a:solidFill>
                <a:latin typeface="Agrandir Bold"/>
                <a:ea typeface="Agrandir Bold"/>
                <a:cs typeface="Agrandir Bold"/>
                <a:sym typeface="Agrandir Bold"/>
              </a:rPr>
              <a:t>Expected Impact and Key Benefits</a:t>
            </a:r>
          </a:p>
          <a:p>
            <a:pPr marL="755652" lvl="1" indent="-377826" algn="l">
              <a:lnSpc>
                <a:spcPts val="4200"/>
              </a:lnSpc>
              <a:buFont typeface="Arial"/>
              <a:buChar char="•"/>
            </a:pPr>
            <a:r>
              <a:rPr lang="en-US" sz="3500" b="1">
                <a:solidFill>
                  <a:srgbClr val="003470"/>
                </a:solidFill>
                <a:latin typeface="Agrandir Bold"/>
                <a:ea typeface="Agrandir Bold"/>
                <a:cs typeface="Agrandir Bold"/>
                <a:sym typeface="Agrandir Bold"/>
              </a:rPr>
              <a:t>YC says yes tomorrow. Can your application handle success next week? (</a:t>
            </a:r>
            <a:r>
              <a:rPr lang="en-US" sz="3500">
                <a:solidFill>
                  <a:srgbClr val="003470"/>
                </a:solidFill>
                <a:latin typeface="Agrandir"/>
                <a:ea typeface="Agrandir"/>
                <a:cs typeface="Agrandir"/>
                <a:sym typeface="Agrandir"/>
              </a:rPr>
              <a:t>Users, Breaks, Crashes, Robustness - Scaling &amp; Testing</a:t>
            </a:r>
            <a:r>
              <a:rPr lang="en-US" sz="3500" b="1">
                <a:solidFill>
                  <a:srgbClr val="003470"/>
                </a:solidFill>
                <a:latin typeface="Agrandir Bold"/>
                <a:ea typeface="Agrandir Bold"/>
                <a:cs typeface="Agrandir Bold"/>
                <a:sym typeface="Agrandir Bold"/>
              </a:rPr>
              <a:t>)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02442" y="1883567"/>
            <a:ext cx="16972599" cy="419100"/>
            <a:chOff x="0" y="0"/>
            <a:chExt cx="22630132" cy="558800"/>
          </a:xfrm>
        </p:grpSpPr>
        <p:sp>
          <p:nvSpPr>
            <p:cNvPr id="6" name="AutoShape 6"/>
            <p:cNvSpPr/>
            <p:nvPr/>
          </p:nvSpPr>
          <p:spPr>
            <a:xfrm>
              <a:off x="825885" y="279400"/>
              <a:ext cx="10230406" cy="0"/>
            </a:xfrm>
            <a:prstGeom prst="line">
              <a:avLst/>
            </a:prstGeom>
            <a:ln w="63500" cap="flat">
              <a:solidFill>
                <a:srgbClr val="FFCD82"/>
              </a:solidFill>
              <a:prstDash val="lgDash"/>
              <a:headEnd type="none" w="sm" len="sm"/>
              <a:tailEnd type="none" w="sm" len="sm"/>
            </a:ln>
          </p:spPr>
        </p:sp>
        <p:sp>
          <p:nvSpPr>
            <p:cNvPr id="7" name="AutoShape 7"/>
            <p:cNvSpPr/>
            <p:nvPr/>
          </p:nvSpPr>
          <p:spPr>
            <a:xfrm>
              <a:off x="11720891" y="279400"/>
              <a:ext cx="10092220" cy="0"/>
            </a:xfrm>
            <a:prstGeom prst="line">
              <a:avLst/>
            </a:prstGeom>
            <a:ln w="63500" cap="flat">
              <a:solidFill>
                <a:srgbClr val="FFCD82"/>
              </a:solidFill>
              <a:prstDash val="lgDash"/>
              <a:headEnd type="none" w="sm" len="sm"/>
              <a:tailEnd type="none" w="sm" len="sm"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669573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FCD82"/>
                  </a:solidFill>
                  <a:latin typeface="Anton"/>
                  <a:ea typeface="Anton"/>
                  <a:cs typeface="Anton"/>
                  <a:sym typeface="Anton"/>
                </a:rPr>
                <a:t>DEP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930346" y="0"/>
              <a:ext cx="699786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FCD82"/>
                  </a:solidFill>
                  <a:latin typeface="Anton"/>
                  <a:ea typeface="Anton"/>
                  <a:cs typeface="Anton"/>
                  <a:sym typeface="Anton"/>
                </a:rPr>
                <a:t>ARR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991779" y="69453"/>
              <a:ext cx="646574" cy="419894"/>
              <a:chOff x="0" y="0"/>
              <a:chExt cx="406400" cy="26392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263922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263922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131961"/>
                    </a:lnTo>
                    <a:lnTo>
                      <a:pt x="203200" y="263922"/>
                    </a:lnTo>
                    <a:lnTo>
                      <a:pt x="0" y="263922"/>
                    </a:lnTo>
                    <a:lnTo>
                      <a:pt x="203200" y="1319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D82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77800" y="19050"/>
                <a:ext cx="152400" cy="2448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68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r="-6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02442" y="682985"/>
            <a:ext cx="12271289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7700">
                <a:solidFill>
                  <a:srgbClr val="003470"/>
                </a:solidFill>
                <a:latin typeface="Anton"/>
                <a:ea typeface="Anton"/>
                <a:cs typeface="Anton"/>
                <a:sym typeface="Anton"/>
              </a:rPr>
              <a:t>RESEARCH AND REFERENCES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95813" y="2436448"/>
            <a:ext cx="13705599" cy="223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2" lvl="1" indent="-377826" algn="l">
              <a:lnSpc>
                <a:spcPts val="4200"/>
              </a:lnSpc>
              <a:buFont typeface="Arial"/>
              <a:buChar char="•"/>
            </a:pPr>
            <a:r>
              <a:rPr lang="en-US" sz="3500" b="1">
                <a:solidFill>
                  <a:srgbClr val="003470"/>
                </a:solidFill>
                <a:latin typeface="Agrandir Bold"/>
                <a:ea typeface="Agrandir Bold"/>
                <a:cs typeface="Agrandir Bold"/>
                <a:sym typeface="Agrandir Bold"/>
              </a:rPr>
              <a:t>Research Background and Supporting Evidence</a:t>
            </a:r>
          </a:p>
          <a:p>
            <a:pPr marL="755652" lvl="1" indent="-377826" algn="l">
              <a:lnSpc>
                <a:spcPts val="4200"/>
              </a:lnSpc>
              <a:buFont typeface="Arial"/>
              <a:buChar char="•"/>
            </a:pPr>
            <a:r>
              <a:rPr lang="en-US" sz="3500" b="1">
                <a:solidFill>
                  <a:srgbClr val="003470"/>
                </a:solidFill>
                <a:latin typeface="Agrandir Bold"/>
                <a:ea typeface="Agrandir Bold"/>
                <a:cs typeface="Agrandir Bold"/>
                <a:sym typeface="Agrandir Bold"/>
              </a:rPr>
              <a:t>Datasets, Papers, Sources and References</a:t>
            </a:r>
          </a:p>
          <a:p>
            <a:pPr marL="755652" lvl="1" indent="-377826" algn="l">
              <a:lnSpc>
                <a:spcPts val="4200"/>
              </a:lnSpc>
              <a:buFont typeface="Arial"/>
              <a:buChar char="•"/>
            </a:pPr>
            <a:r>
              <a:rPr lang="en-US" sz="3500" b="1">
                <a:solidFill>
                  <a:srgbClr val="003470"/>
                </a:solidFill>
                <a:latin typeface="Agrandir Bold"/>
                <a:ea typeface="Agrandir Bold"/>
                <a:cs typeface="Agrandir Bold"/>
                <a:sym typeface="Agrandir Bold"/>
              </a:rPr>
              <a:t>Demo, Competitor Analysis, GitHub or Supporting Links</a:t>
            </a:r>
          </a:p>
          <a:p>
            <a:pPr algn="l">
              <a:lnSpc>
                <a:spcPts val="4200"/>
              </a:lnSpc>
            </a:pPr>
            <a:endParaRPr lang="en-US" sz="3500" b="1">
              <a:solidFill>
                <a:srgbClr val="003470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602442" y="1883567"/>
            <a:ext cx="16972599" cy="419100"/>
            <a:chOff x="0" y="0"/>
            <a:chExt cx="22630132" cy="558800"/>
          </a:xfrm>
        </p:grpSpPr>
        <p:sp>
          <p:nvSpPr>
            <p:cNvPr id="6" name="AutoShape 6"/>
            <p:cNvSpPr/>
            <p:nvPr/>
          </p:nvSpPr>
          <p:spPr>
            <a:xfrm>
              <a:off x="825885" y="279400"/>
              <a:ext cx="10230406" cy="0"/>
            </a:xfrm>
            <a:prstGeom prst="line">
              <a:avLst/>
            </a:prstGeom>
            <a:ln w="63500" cap="flat">
              <a:solidFill>
                <a:srgbClr val="FFCD82"/>
              </a:solidFill>
              <a:prstDash val="lgDash"/>
              <a:headEnd type="none" w="sm" len="sm"/>
              <a:tailEnd type="none" w="sm" len="sm"/>
            </a:ln>
          </p:spPr>
        </p:sp>
        <p:sp>
          <p:nvSpPr>
            <p:cNvPr id="7" name="AutoShape 7"/>
            <p:cNvSpPr/>
            <p:nvPr/>
          </p:nvSpPr>
          <p:spPr>
            <a:xfrm>
              <a:off x="11720891" y="279400"/>
              <a:ext cx="10092220" cy="0"/>
            </a:xfrm>
            <a:prstGeom prst="line">
              <a:avLst/>
            </a:prstGeom>
            <a:ln w="63500" cap="flat">
              <a:solidFill>
                <a:srgbClr val="FFCD82"/>
              </a:solidFill>
              <a:prstDash val="lgDash"/>
              <a:headEnd type="none" w="sm" len="sm"/>
              <a:tailEnd type="none" w="sm" len="sm"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669573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FCD82"/>
                  </a:solidFill>
                  <a:latin typeface="Anton"/>
                  <a:ea typeface="Anton"/>
                  <a:cs typeface="Anton"/>
                  <a:sym typeface="Anton"/>
                </a:rPr>
                <a:t>DEP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930346" y="0"/>
              <a:ext cx="699786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FCD82"/>
                  </a:solidFill>
                  <a:latin typeface="Anton"/>
                  <a:ea typeface="Anton"/>
                  <a:cs typeface="Anton"/>
                  <a:sym typeface="Anton"/>
                </a:rPr>
                <a:t>ARR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991779" y="69453"/>
              <a:ext cx="646574" cy="419894"/>
              <a:chOff x="0" y="0"/>
              <a:chExt cx="406400" cy="26392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263922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263922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131961"/>
                    </a:lnTo>
                    <a:lnTo>
                      <a:pt x="203200" y="263922"/>
                    </a:lnTo>
                    <a:lnTo>
                      <a:pt x="0" y="263922"/>
                    </a:lnTo>
                    <a:lnTo>
                      <a:pt x="203200" y="1319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D82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77800" y="19050"/>
                <a:ext cx="152400" cy="2448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68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r="-6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825915" y="-1272977"/>
            <a:ext cx="19113915" cy="11559977"/>
          </a:xfrm>
          <a:custGeom>
            <a:avLst/>
            <a:gdLst/>
            <a:ahLst/>
            <a:cxnLst/>
            <a:rect l="l" t="t" r="r" b="b"/>
            <a:pathLst>
              <a:path w="19113915" h="11559977">
                <a:moveTo>
                  <a:pt x="0" y="0"/>
                </a:moveTo>
                <a:lnTo>
                  <a:pt x="19113915" y="0"/>
                </a:lnTo>
                <a:lnTo>
                  <a:pt x="19113915" y="11559977"/>
                </a:lnTo>
                <a:lnTo>
                  <a:pt x="0" y="115599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-3730" r="-3730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602442" y="1883567"/>
            <a:ext cx="16972599" cy="419100"/>
            <a:chOff x="0" y="0"/>
            <a:chExt cx="22630132" cy="558800"/>
          </a:xfrm>
        </p:grpSpPr>
        <p:sp>
          <p:nvSpPr>
            <p:cNvPr id="5" name="AutoShape 5"/>
            <p:cNvSpPr/>
            <p:nvPr/>
          </p:nvSpPr>
          <p:spPr>
            <a:xfrm>
              <a:off x="825885" y="279400"/>
              <a:ext cx="10230406" cy="0"/>
            </a:xfrm>
            <a:prstGeom prst="line">
              <a:avLst/>
            </a:prstGeom>
            <a:ln w="63500" cap="flat">
              <a:solidFill>
                <a:srgbClr val="FFCD82"/>
              </a:solidFill>
              <a:prstDash val="lgDash"/>
              <a:headEnd type="none" w="sm" len="sm"/>
              <a:tailEnd type="none" w="sm" len="sm"/>
            </a:ln>
          </p:spPr>
        </p:sp>
        <p:sp>
          <p:nvSpPr>
            <p:cNvPr id="6" name="AutoShape 6"/>
            <p:cNvSpPr/>
            <p:nvPr/>
          </p:nvSpPr>
          <p:spPr>
            <a:xfrm>
              <a:off x="11720891" y="279400"/>
              <a:ext cx="10092220" cy="0"/>
            </a:xfrm>
            <a:prstGeom prst="line">
              <a:avLst/>
            </a:prstGeom>
            <a:ln w="63500" cap="flat">
              <a:solidFill>
                <a:srgbClr val="FFCD82"/>
              </a:solidFill>
              <a:prstDash val="lgDash"/>
              <a:headEnd type="none" w="sm" len="sm"/>
              <a:tailEnd type="none" w="sm" len="sm"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669573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FCD82"/>
                  </a:solidFill>
                  <a:latin typeface="Anton"/>
                  <a:ea typeface="Anton"/>
                  <a:cs typeface="Anton"/>
                  <a:sym typeface="Anton"/>
                </a:rPr>
                <a:t>DEP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930346" y="0"/>
              <a:ext cx="699786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FCD82"/>
                  </a:solidFill>
                  <a:latin typeface="Anton"/>
                  <a:ea typeface="Anton"/>
                  <a:cs typeface="Anton"/>
                  <a:sym typeface="Anton"/>
                </a:rPr>
                <a:t>ARR</a:t>
              </a:r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10991779" y="69453"/>
              <a:ext cx="646574" cy="419894"/>
              <a:chOff x="0" y="0"/>
              <a:chExt cx="406400" cy="263922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06400" cy="263922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263922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131961"/>
                    </a:lnTo>
                    <a:lnTo>
                      <a:pt x="203200" y="263922"/>
                    </a:lnTo>
                    <a:lnTo>
                      <a:pt x="0" y="263922"/>
                    </a:lnTo>
                    <a:lnTo>
                      <a:pt x="203200" y="1319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D82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77800" y="19050"/>
                <a:ext cx="152400" cy="2448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68"/>
                  </a:lnSpc>
                </a:pPr>
                <a:endParaRPr/>
              </a:p>
            </p:txBody>
          </p:sp>
        </p:grpSp>
      </p:grpSp>
      <p:sp>
        <p:nvSpPr>
          <p:cNvPr id="12" name="TextBox 12"/>
          <p:cNvSpPr txBox="1"/>
          <p:nvPr/>
        </p:nvSpPr>
        <p:spPr>
          <a:xfrm>
            <a:off x="7421738" y="2235992"/>
            <a:ext cx="10398662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46"/>
              </a:lnSpc>
              <a:spcBef>
                <a:spcPct val="0"/>
              </a:spcBef>
            </a:pPr>
            <a:r>
              <a:rPr lang="en-US" sz="2122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Build for the problem. Design for the user. Prove that it can survive success.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04991" y="9115425"/>
            <a:ext cx="4967501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7700">
                <a:solidFill>
                  <a:srgbClr val="003470"/>
                </a:solidFill>
                <a:latin typeface="Anton"/>
                <a:ea typeface="Anton"/>
                <a:cs typeface="Anton"/>
                <a:sym typeface="Anton"/>
              </a:rPr>
              <a:t>ALL THE BEST!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2442" y="682985"/>
            <a:ext cx="12271289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7700">
                <a:solidFill>
                  <a:srgbClr val="003470"/>
                </a:solidFill>
                <a:latin typeface="Anton"/>
                <a:ea typeface="Anton"/>
                <a:cs typeface="Anton"/>
                <a:sym typeface="Anton"/>
              </a:rPr>
              <a:t>INSTRUCTIONS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6388" y="2880121"/>
            <a:ext cx="17298653" cy="557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5" lvl="1" indent="-323852" algn="l">
              <a:lnSpc>
                <a:spcPts val="3600"/>
              </a:lnSpc>
              <a:buFont typeface="Arial"/>
              <a:buChar char="•"/>
            </a:pPr>
            <a:r>
              <a:rPr lang="en-US" sz="3000" b="1">
                <a:solidFill>
                  <a:srgbClr val="003470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You may add one extra slide if needed - bringing the submission to a total of no more than 8 slides.</a:t>
            </a:r>
          </a:p>
          <a:p>
            <a:pPr marL="647705" lvl="1" indent="-323852" algn="l">
              <a:lnSpc>
                <a:spcPts val="3600"/>
              </a:lnSpc>
              <a:buFont typeface="Arial"/>
              <a:buChar char="•"/>
            </a:pPr>
            <a:r>
              <a:rPr lang="en-US" sz="3000" b="1">
                <a:solidFill>
                  <a:srgbClr val="003470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Keep the slides focused, visual and evidence led.</a:t>
            </a:r>
          </a:p>
          <a:p>
            <a:pPr marL="647705" lvl="1" indent="-323852" algn="l">
              <a:lnSpc>
                <a:spcPts val="3600"/>
              </a:lnSpc>
              <a:buFont typeface="Arial"/>
              <a:buChar char="•"/>
            </a:pPr>
            <a:r>
              <a:rPr lang="en-US" sz="3000" b="1">
                <a:solidFill>
                  <a:srgbClr val="003470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Do not reveal participants name anywhere in the PPT.</a:t>
            </a:r>
          </a:p>
          <a:p>
            <a:pPr marL="647705" lvl="1" indent="-323852" algn="l">
              <a:lnSpc>
                <a:spcPts val="3600"/>
              </a:lnSpc>
              <a:buFont typeface="Arial"/>
              <a:buChar char="•"/>
            </a:pPr>
            <a:r>
              <a:rPr lang="en-US" sz="3000" b="1">
                <a:solidFill>
                  <a:srgbClr val="003470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Make sure shared links are openable and have viewing access enabled.</a:t>
            </a:r>
          </a:p>
          <a:p>
            <a:pPr marL="647705" lvl="1" indent="-323852" algn="l">
              <a:lnSpc>
                <a:spcPts val="3600"/>
              </a:lnSpc>
              <a:buFont typeface="Arial"/>
              <a:buChar char="•"/>
            </a:pPr>
            <a:r>
              <a:rPr lang="en-US" sz="3000" b="1">
                <a:solidFill>
                  <a:srgbClr val="003470"/>
                </a:solidFill>
                <a:latin typeface="Agrandir Bold"/>
                <a:ea typeface="Agrandir Bold"/>
                <a:cs typeface="Agrandir Bold"/>
                <a:sym typeface="Agrandir Bold"/>
              </a:rPr>
              <a:t>You will be judged on - </a:t>
            </a:r>
          </a:p>
          <a:p>
            <a:pPr marL="1295410" lvl="2" indent="-431803" algn="l">
              <a:lnSpc>
                <a:spcPts val="3600"/>
              </a:lnSpc>
              <a:buFont typeface="Arial"/>
              <a:buChar char="⚬"/>
            </a:pPr>
            <a:r>
              <a:rPr lang="en-US" sz="3000">
                <a:solidFill>
                  <a:srgbClr val="003470"/>
                </a:solidFill>
                <a:latin typeface="Agrandir"/>
                <a:ea typeface="Agrandir"/>
                <a:cs typeface="Agrandir"/>
                <a:sym typeface="Agrandir"/>
              </a:rPr>
              <a:t>Problem understanding and solution clarity. </a:t>
            </a:r>
          </a:p>
          <a:p>
            <a:pPr marL="1295410" lvl="2" indent="-431803" algn="l">
              <a:lnSpc>
                <a:spcPts val="3600"/>
              </a:lnSpc>
              <a:buFont typeface="Arial"/>
              <a:buChar char="⚬"/>
            </a:pPr>
            <a:r>
              <a:rPr lang="en-US" sz="3000">
                <a:solidFill>
                  <a:srgbClr val="003470"/>
                </a:solidFill>
                <a:latin typeface="Agrandir"/>
                <a:ea typeface="Agrandir"/>
                <a:cs typeface="Agrandir"/>
                <a:sym typeface="Agrandir"/>
              </a:rPr>
              <a:t>Technical Depth and Scaling</a:t>
            </a:r>
          </a:p>
          <a:p>
            <a:pPr marL="1295410" lvl="2" indent="-431803" algn="l">
              <a:lnSpc>
                <a:spcPts val="3600"/>
              </a:lnSpc>
              <a:buFont typeface="Arial"/>
              <a:buChar char="⚬"/>
            </a:pPr>
            <a:r>
              <a:rPr lang="en-US" sz="3000">
                <a:solidFill>
                  <a:srgbClr val="003470"/>
                </a:solidFill>
                <a:latin typeface="Agrandir"/>
                <a:ea typeface="Agrandir"/>
                <a:cs typeface="Agrandir"/>
                <a:sym typeface="Agrandir"/>
              </a:rPr>
              <a:t>Originality and Differentiation</a:t>
            </a:r>
          </a:p>
          <a:p>
            <a:pPr marL="1295410" lvl="2" indent="-431803" algn="l">
              <a:lnSpc>
                <a:spcPts val="3600"/>
              </a:lnSpc>
              <a:buFont typeface="Arial"/>
              <a:buChar char="⚬"/>
            </a:pPr>
            <a:r>
              <a:rPr lang="en-US" sz="3000">
                <a:solidFill>
                  <a:srgbClr val="003470"/>
                </a:solidFill>
                <a:latin typeface="Agrandir"/>
                <a:ea typeface="Agrandir"/>
                <a:cs typeface="Agrandir"/>
                <a:sym typeface="Agrandir"/>
              </a:rPr>
              <a:t>Quality of research, prototype and presentation. </a:t>
            </a:r>
          </a:p>
          <a:p>
            <a:pPr marL="1295410" lvl="2" indent="-431803" algn="l">
              <a:lnSpc>
                <a:spcPts val="3600"/>
              </a:lnSpc>
              <a:buFont typeface="Arial"/>
              <a:buChar char="⚬"/>
            </a:pPr>
            <a:r>
              <a:rPr lang="en-US" sz="3000" b="1">
                <a:solidFill>
                  <a:srgbClr val="003470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Submit as PPT/ PPTX/ PDF with the file name as -</a:t>
            </a:r>
          </a:p>
          <a:p>
            <a:pPr marL="647705" lvl="1" indent="-323852" algn="l">
              <a:lnSpc>
                <a:spcPts val="3600"/>
              </a:lnSpc>
              <a:buFont typeface="Arial"/>
              <a:buChar char="•"/>
            </a:pPr>
            <a:r>
              <a:rPr lang="en-US" sz="3000" b="1">
                <a:solidFill>
                  <a:srgbClr val="003470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Delete this page before submission.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78131" y="7559622"/>
            <a:ext cx="1842939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D80E18"/>
                </a:solidFill>
                <a:latin typeface="Bebas Neue"/>
                <a:ea typeface="Bebas Neue"/>
                <a:cs typeface="Bebas Neue"/>
                <a:sym typeface="Bebas Neue"/>
              </a:rPr>
              <a:t>psid_teamname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0" y="8969184"/>
            <a:ext cx="2720741" cy="1317816"/>
            <a:chOff x="0" y="0"/>
            <a:chExt cx="3627654" cy="175708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58552" cy="1757088"/>
            </a:xfrm>
            <a:custGeom>
              <a:avLst/>
              <a:gdLst/>
              <a:ahLst/>
              <a:cxnLst/>
              <a:rect l="l" t="t" r="r" b="b"/>
              <a:pathLst>
                <a:path w="1758552" h="1757088">
                  <a:moveTo>
                    <a:pt x="0" y="0"/>
                  </a:moveTo>
                  <a:lnTo>
                    <a:pt x="1758552" y="0"/>
                  </a:lnTo>
                  <a:lnTo>
                    <a:pt x="1758552" y="1757088"/>
                  </a:lnTo>
                  <a:lnTo>
                    <a:pt x="0" y="1757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2252616" y="192744"/>
              <a:ext cx="1375038" cy="1371600"/>
            </a:xfrm>
            <a:custGeom>
              <a:avLst/>
              <a:gdLst/>
              <a:ahLst/>
              <a:cxnLst/>
              <a:rect l="l" t="t" r="r" b="b"/>
              <a:pathLst>
                <a:path w="1375038" h="1371600">
                  <a:moveTo>
                    <a:pt x="0" y="0"/>
                  </a:moveTo>
                  <a:lnTo>
                    <a:pt x="1375038" y="0"/>
                  </a:lnTo>
                  <a:lnTo>
                    <a:pt x="1375038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1758552" y="681902"/>
              <a:ext cx="254692" cy="345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0"/>
                </a:lnSpc>
              </a:pPr>
              <a:r>
                <a:rPr lang="en-US" sz="1478">
                  <a:solidFill>
                    <a:srgbClr val="FFCD82"/>
                  </a:solidFill>
                  <a:latin typeface="Horizon"/>
                  <a:ea typeface="Horizon"/>
                  <a:cs typeface="Horizon"/>
                  <a:sym typeface="Horizon"/>
                </a:rPr>
                <a:t>x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14997012" y="9284162"/>
            <a:ext cx="923360" cy="834102"/>
          </a:xfrm>
          <a:custGeom>
            <a:avLst/>
            <a:gdLst/>
            <a:ahLst/>
            <a:cxnLst/>
            <a:rect l="l" t="t" r="r" b="b"/>
            <a:pathLst>
              <a:path w="923360" h="834102">
                <a:moveTo>
                  <a:pt x="0" y="0"/>
                </a:moveTo>
                <a:lnTo>
                  <a:pt x="923360" y="0"/>
                </a:lnTo>
                <a:lnTo>
                  <a:pt x="923360" y="834101"/>
                </a:lnTo>
                <a:lnTo>
                  <a:pt x="0" y="8341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15920372" y="9178045"/>
            <a:ext cx="2343715" cy="1046334"/>
            <a:chOff x="0" y="0"/>
            <a:chExt cx="3124953" cy="139511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10396" cy="1395113"/>
            </a:xfrm>
            <a:custGeom>
              <a:avLst/>
              <a:gdLst/>
              <a:ahLst/>
              <a:cxnLst/>
              <a:rect l="l" t="t" r="r" b="b"/>
              <a:pathLst>
                <a:path w="1110396" h="1395113">
                  <a:moveTo>
                    <a:pt x="0" y="0"/>
                  </a:moveTo>
                  <a:lnTo>
                    <a:pt x="1110396" y="0"/>
                  </a:lnTo>
                  <a:lnTo>
                    <a:pt x="1110396" y="1395113"/>
                  </a:lnTo>
                  <a:lnTo>
                    <a:pt x="0" y="1395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1120873" y="92133"/>
              <a:ext cx="2004079" cy="8694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62"/>
                </a:lnSpc>
              </a:pPr>
              <a:r>
                <a:rPr lang="en-US" sz="1539" b="1">
                  <a:solidFill>
                    <a:srgbClr val="000000"/>
                  </a:solidFill>
                  <a:latin typeface="Now Medium"/>
                  <a:ea typeface="Now Medium"/>
                  <a:cs typeface="Now Medium"/>
                  <a:sym typeface="Now Medium"/>
                </a:rPr>
                <a:t>INSTITUTION'S INNOVATION COUNCIL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20873" y="1011585"/>
              <a:ext cx="924960" cy="2542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07"/>
                </a:lnSpc>
              </a:pPr>
              <a:r>
                <a:rPr lang="en-US" sz="1303" b="1">
                  <a:solidFill>
                    <a:srgbClr val="FF914D"/>
                  </a:solidFill>
                  <a:latin typeface="Now Medium"/>
                  <a:ea typeface="Now Medium"/>
                  <a:cs typeface="Now Medium"/>
                  <a:sym typeface="Now Medium"/>
                </a:rPr>
                <a:t>DJSCE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</Words>
  <Application>Microsoft Office PowerPoint</Application>
  <PresentationFormat>Custom</PresentationFormat>
  <Paragraphs>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Agrandir Bold</vt:lpstr>
      <vt:lpstr>Agrandir</vt:lpstr>
      <vt:lpstr>Arial</vt:lpstr>
      <vt:lpstr>Horizon</vt:lpstr>
      <vt:lpstr>Bebas Neue</vt:lpstr>
      <vt:lpstr>Agrandir Medium</vt:lpstr>
      <vt:lpstr>Calibri</vt:lpstr>
      <vt:lpstr>Now Medium</vt:lpstr>
      <vt:lpstr>Anton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Elevate 1.0 Template</dc:title>
  <dc:creator>sam</dc:creator>
  <cp:lastModifiedBy>Milind Bhirud</cp:lastModifiedBy>
  <cp:revision>1</cp:revision>
  <dcterms:created xsi:type="dcterms:W3CDTF">2006-08-16T00:00:00Z</dcterms:created>
  <dcterms:modified xsi:type="dcterms:W3CDTF">2026-09-17T12:58:53Z</dcterms:modified>
  <dc:identifier>DAHVYH0ZRyA</dc:identifier>
</cp:coreProperties>
</file>